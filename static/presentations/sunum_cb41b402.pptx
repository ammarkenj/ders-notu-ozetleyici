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SUNUM BAŞLIĞI: Ders Notu Sunumu</a:t>
            </a:r>
          </a:p>
          <a:p>
            <a:r>
              <a:t>ALT BAŞLIK: Akıllı Not AI Tarafından Üretildi</a:t>
            </a:r>
          </a:p>
          <a:p/>
          <a:p>
            <a:r>
              <a:t>Bu sunum Ders Notu Özetleyici sistemi tarafından otomatik oluşturulmuştur.</a:t>
            </a:r>
          </a:p>
          <a:p>
            <a:r>
              <a:t>Lütfen slaytları sunuma başlamadan önce gözden geçiriniz.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GÜNDEM</a:t>
            </a:r>
          </a:p>
          <a:p/>
          <a:p>
            <a:r>
              <a:t>Bu slayt sunumun genel yapısını özetlemektedir.</a:t>
            </a:r>
          </a:p>
          <a:p>
            <a:r>
              <a:t>  1. 🎯 Olası Sınav Sorusu Tahminleri (Vize / Final)</a:t>
            </a:r>
          </a:p>
          <a:p>
            <a:r>
              <a:t>  2. Soru 1: Buluş ve Tasarım kavramları arasındaki temel farkları göz önüne alarak; "Tasarım Hakkı Sahibi" ile "Tasarımcı" arasındaki niteliksel farkları açıklayınız ve tasarım hakkı sahibinin üçüncü kişilere karşı elde ettiği yasal hakları (yasaklama yetkilerini) maddeler halinde belirtiniz.</a:t>
            </a:r>
          </a:p>
          <a:p>
            <a:r>
              <a:t>  3. Soru 2: Sınai mülkiyet hukuku kapsamında "Buluş" kavramını tanımlayarak bir fikrin buluş olarak nitelendirilebilmesi için taşıması gereken temel özelliği açıklayınız. Ayrıca hangi tıp/sağlık usullerinin buluş niteliğinde sayılmayarak koruma kapsamı dışında bırakıldığını belirtiniz.</a:t>
            </a:r>
          </a:p>
          <a:p>
            <a:r>
              <a:t>  4. Soru 3: Endüstriyel tasarımların tescil sonrası koruma süreleri nasıl düzenlenmiştir? Koruma süresinin başlangıç anını, ilk koruma süresini ve yenileme mekanizmasıyla ulaşılabilecek azami (maksimum) koruma süresini detaylarıyla açıklayınız.</a:t>
            </a:r>
          </a:p>
          <a:p>
            <a:r>
              <a:t>  5. Soru 4: Türk Patent ve Marka Kurumu'na (Türk Patent Enstitüsü) resmi bir buluş/patent başvurusu yaparken başvuru dosyasında bulunması gereken temel evraklar ve teknik belgeler nelerdir? Maddeler halinde listeleyiniz.</a:t>
            </a:r>
          </a:p>
          <a:p>
            <a:r>
              <a:t>  6. Soru 5: Tasarım tescil işlemlerinde prosedürel kolaylık sağlayan "Çoklu Başvuru" kavramını tanımlayarak, tasarım alanında ürünün görselliğini oluşturan ve tescile konu olan estetik/görsel faktörleri yazınız.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Olası Sınav Sorusu Tahminleri (Vize / Final)</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Soru 1: Buluş ve Tasarım kavramları arasındaki temel farkları göz önüne alarak; "Tasarım Hakkı Sahibi" ile "Tasarımcı" arasındaki niteliksel farkları açıklayınız ve tasarım hakkı sahibinin üçüncü kişilere karşı elde ettiği yasal hakları (yasaklama yetkilerini) maddeler halinde belirtiniz.</a:t>
            </a:r>
          </a:p>
          <a:p/>
          <a:p>
            <a:r>
              <a:t>• *Cevap/Önemli Nokta:**</a:t>
            </a:r>
          </a:p>
          <a:p>
            <a:r>
              <a:t>• **Tasarımcı:** Tasarımı bizzat gerçekleştiren, fikri/estetik emeği ortaya koyan gerçek kişidir.</a:t>
            </a:r>
          </a:p>
          <a:p>
            <a:r>
              <a:t>• **Tasarım Hakkı Sahibi:** Tescile konu tasarımı veya tasarımın uygulandığı ürünü üreten, piyasaya sunan, satan, sözleşme yapmak için icapta bulunan ve ticari amaçla kullanan kişidir (hak sahibi ile tasarımcı her zaman aynı kişi olmak zorunda değildir).</a:t>
            </a:r>
          </a:p>
          <a:p>
            <a:r>
              <a:t>• **Hak Sahibinin Yasaklama Yetkileri:** Üçüncü kişiler, tasarım hakkı sahibinin izni olmaksızın şu eylemleri gerçekleştiremez:</a:t>
            </a:r>
          </a:p>
          <a:p>
            <a:r>
              <a:t>• 1. Tasarımı üretemez.</a:t>
            </a:r>
          </a:p>
          <a:p>
            <a:r>
              <a:t>• 2. Piyasaya sunamaz, satamaz, ithal edemez.</a:t>
            </a:r>
          </a:p>
          <a:p>
            <a:r>
              <a:t>• 3. Sözleşme yapmak için icapta bulunamaz.</a:t>
            </a:r>
          </a:p>
          <a:p>
            <a:r>
              <a:t>• 4. Ticari amaçla kullanamaz.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Soru 2: Sınai mülkiyet hukuku kapsamında "Buluş" kavramını tanımlayarak bir fikrin buluş olarak nitelendirilebilmesi için taşıması gereken temel özelliği açıklayınız. Ayrıca hangi tıp/sağlık usullerinin buluş niteliğinde sayılmayarak koruma kapsamı dışında bırakıldığını belirtiniz.</a:t>
            </a:r>
          </a:p>
          <a:p/>
          <a:p>
            <a:r>
              <a:t>• *Cevap/Önemli Nokta:**</a:t>
            </a:r>
          </a:p>
          <a:p>
            <a:r>
              <a:t>• **Buluş Tanımı:** Teknoloji alanında belirli bir sorunun çözümüne ilişkin, teknik özelliği olan fikir ürünüdür. Yepyeni bir cihaz/yöntem yaratılması olabileceği gibi bilinen bir üründeki teknik bir iyileştirme de olabilir.</a:t>
            </a:r>
          </a:p>
          <a:p>
            <a:r>
              <a:t>• **Temel Özellik:** Buluşun mutlaka **teknik niteliğe** sahip olması gerekir. Aynı teknik problemin her farklı çözümü ayrı bir buluş sayılır.</a:t>
            </a:r>
          </a:p>
          <a:p>
            <a:r>
              <a:t>• **Koruma Kapsamı Dışında Kalan Usuller:** İnsan veya hayvan vücuduna uygulanacak cerrahi ve tedavi usulleri ile insan/hayvan vücudu ile ilgili teşhis usulleri buluş niteliğinde sayılmadığı için koruma kapsamı dışındadır.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Soru 3: Endüstriyel tasarımların tescil sonrası koruma süreleri nasıl düzenlenmiştir? Koruma süresinin başlangıç anını, ilk koruma süresini ve yenileme mekanizmasıyla ulaşılabilecek azami (maksimum) koruma süresini detaylarıyla açıklayınız.</a:t>
            </a:r>
          </a:p>
          <a:p/>
          <a:p>
            <a:r>
              <a:t>• *Cevap/Önemli Nokta:**</a:t>
            </a:r>
          </a:p>
          <a:p>
            <a:r>
              <a:t>• **Başlangıç Anı ve İlk Süre:** Tescilli tasarımların koruma süresi **başvuru tarihinden itibaren 5 yıldır**.</a:t>
            </a:r>
          </a:p>
          <a:p>
            <a:r>
              <a:t>• **Yenileme ve Azami Süre:** Koruma süresi, tescilin **beşer yıllık dönemler halinde yenilenmesi** işlemi ile uzatılabilir.</a:t>
            </a:r>
          </a:p>
          <a:p>
            <a:r>
              <a:t>• **Maksimum Süre:** Toplam koruma süresi yenilemelerle birlikte **en fazla 25 yıla** kadar uzatılabilir. Bu sürenin sonunda tasarım kamuya mal olur.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Soru 4: Türk Patent ve Marka Kurumu'na (Türk Patent Enstitüsü) resmi bir buluş/patent başvurusu yaparken başvuru dosyasında bulunması gereken temel evraklar ve teknik belgeler nelerdir? Maddeler halinde listeleyiniz.</a:t>
            </a:r>
          </a:p>
          <a:p/>
          <a:p>
            <a:r>
              <a:t>• *Cevap/Önemli Nokta:**</a:t>
            </a:r>
          </a:p>
          <a:p>
            <a:r>
              <a:t>• Başvuru dosyasında bulunması gereken zorunlu belgeler şunlardır:</a:t>
            </a:r>
          </a:p>
          <a:p>
            <a:r>
              <a:t>• 1. Başvuru formu (İnternet sitesinden elde edilen 1 nüsha)</a:t>
            </a:r>
          </a:p>
          <a:p>
            <a:r>
              <a:t>• 2. Buluş konusunu açıklayan **tarifname** (2 nüsha)</a:t>
            </a:r>
          </a:p>
          <a:p>
            <a:r>
              <a:t>• 3. Korunması istenilen buluşun yeni olduğu iddia edilen teknik özelliklerini kapsayan **istem veya istemler** (2 nüsha)</a:t>
            </a:r>
          </a:p>
          <a:p>
            <a:r>
              <a:t>• 4. Tarifnamede veya istemlerde atıf yapılan **teknik resimler** (2 nüsha)</a:t>
            </a:r>
          </a:p>
          <a:p>
            <a:r>
              <a:t>• 5. **Özet** (2 nüsha)</a:t>
            </a:r>
          </a:p>
          <a:p>
            <a:r>
              <a:t>• 6. **Başvuru ücretinin** ödendiğini gösterir belge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Soru 5: Tasarım tescil işlemlerinde prosedürel kolaylık sağlayan "Çoklu Başvuru" kavramını tanımlayarak, tasarım alanında ürünün görselliğini oluşturan ve tescile konu olan estetik/görsel faktörleri yazınız.</a:t>
            </a:r>
          </a:p>
          <a:p/>
          <a:p>
            <a:r>
              <a:t>• *Cevap/Önemli Nokta:**</a:t>
            </a:r>
          </a:p>
          <a:p>
            <a:r>
              <a:t>• **Çoklu Başvuru:** Tek bir başvuru dilekçesi ve süreci ile birden çok tasarım için aynı anda koruma talep edilmesidir (maliyet ve zaman tasarrufu sağlar).</a:t>
            </a:r>
          </a:p>
          <a:p>
            <a:r>
              <a:t>• **Tasarımı Oluşturan Estetik/Görsel Faktörler:** Bir eşyanın süs veya estetik görüntüsünü oluşturan, 2 veya 3 boyutlu olabilen ürünün **formu, rengi ve hacmi** gibi faktörlerdir.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Sunum sonu. Toplam slayt: 9</a:t>
            </a:r>
          </a:p>
          <a:p>
            <a:r>
              <a:t>Başlık: Ders Notu Sunumu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2651760"/>
            <a:ext cx="10607040"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0"/>
            <a:ext cx="10515600" cy="1554480"/>
          </a:xfrm>
          <a:prstGeom prst="rect">
            <a:avLst/>
          </a:prstGeom>
          <a:noFill/>
        </p:spPr>
        <p:txBody>
          <a:bodyPr wrap="square">
            <a:spAutoFit/>
          </a:bodyPr>
          <a:lstStyle/>
          <a:p>
            <a:pPr algn="l"/>
            <a:r>
              <a:rPr sz="4200" b="1">
                <a:solidFill>
                  <a:srgbClr val="FFFFFF"/>
                </a:solidFill>
              </a:rPr>
              <a:t>Ders Notu Sunumu</a:t>
            </a:r>
          </a:p>
        </p:txBody>
      </p:sp>
      <p:sp>
        <p:nvSpPr>
          <p:cNvPr id="6" name="TextBox 5"/>
          <p:cNvSpPr txBox="1"/>
          <p:nvPr/>
        </p:nvSpPr>
        <p:spPr>
          <a:xfrm>
            <a:off x="731520" y="2834640"/>
            <a:ext cx="10515600" cy="822960"/>
          </a:xfrm>
          <a:prstGeom prst="rect">
            <a:avLst/>
          </a:prstGeom>
          <a:noFill/>
        </p:spPr>
        <p:txBody>
          <a:bodyPr wrap="square">
            <a:spAutoFit/>
          </a:bodyPr>
          <a:lstStyle/>
          <a:p>
            <a:pPr algn="l"/>
            <a:r>
              <a:rPr sz="2000" b="0">
                <a:solidFill>
                  <a:srgbClr val="B0C4DE"/>
                </a:solidFill>
              </a:rPr>
              <a:t>Akıllı Not AI Tarafından Üretildi</a:t>
            </a:r>
          </a:p>
        </p:txBody>
      </p:sp>
      <p:sp>
        <p:nvSpPr>
          <p:cNvPr id="7" name="Oval 6"/>
          <p:cNvSpPr/>
          <p:nvPr/>
        </p:nvSpPr>
        <p:spPr>
          <a:xfrm>
            <a:off x="10149840" y="4389120"/>
            <a:ext cx="1371600" cy="137160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  Gündem</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00</a:t>
            </a:r>
          </a:p>
        </p:txBody>
      </p:sp>
      <p:sp>
        <p:nvSpPr>
          <p:cNvPr id="7" name="TextBox 6"/>
          <p:cNvSpPr txBox="1"/>
          <p:nvPr/>
        </p:nvSpPr>
        <p:spPr>
          <a:xfrm>
            <a:off x="914400" y="1371600"/>
            <a:ext cx="10058400" cy="5212080"/>
          </a:xfrm>
          <a:prstGeom prst="rect">
            <a:avLst/>
          </a:prstGeom>
          <a:noFill/>
        </p:spPr>
        <p:txBody>
          <a:bodyPr wrap="square">
            <a:spAutoFit/>
          </a:bodyPr>
          <a:lstStyle/>
          <a:p>
            <a:pPr>
              <a:spcBef>
                <a:spcPts val="500"/>
              </a:spcBef>
              <a:spcAft>
                <a:spcPts val="300"/>
              </a:spcAft>
            </a:pPr>
            <a:r>
              <a:rPr sz="1800">
                <a:solidFill>
                  <a:srgbClr val="20202E"/>
                </a:solidFill>
              </a:rPr>
              <a:t>▪  🎯 Olası Sınav Sorusu Tahminleri (Vize / Final)</a:t>
            </a:r>
          </a:p>
          <a:p>
            <a:pPr>
              <a:spcBef>
                <a:spcPts val="500"/>
              </a:spcBef>
              <a:spcAft>
                <a:spcPts val="300"/>
              </a:spcAft>
            </a:pPr>
            <a:r>
              <a:rPr sz="1800">
                <a:solidFill>
                  <a:srgbClr val="20202E"/>
                </a:solidFill>
              </a:rPr>
              <a:t>▪  Soru 1: Buluş ve Tasarım kavramları arasındaki temel farkları göz önüne alarak; "Tasarım Hakkı Sahibi" ile "Tasarımcı" arasındaki niteliksel farkları açıklayınız ve tasarım hakkı sahibinin üçüncü kişilere karşı elde ettiği yasal hakları (yasaklama yetkilerini) maddeler halinde belirtiniz.</a:t>
            </a:r>
          </a:p>
          <a:p>
            <a:pPr>
              <a:spcBef>
                <a:spcPts val="500"/>
              </a:spcBef>
              <a:spcAft>
                <a:spcPts val="300"/>
              </a:spcAft>
            </a:pPr>
            <a:r>
              <a:rPr sz="1800">
                <a:solidFill>
                  <a:srgbClr val="20202E"/>
                </a:solidFill>
              </a:rPr>
              <a:t>▪  Soru 2: Sınai mülkiyet hukuku kapsamında "Buluş" kavramını tanımlayarak bir fikrin buluş olarak nitelendirilebilmesi için taşıması gereken temel özelliği açıklayınız. Ayrıca hangi tıp/sağlık usullerinin buluş niteliğinde sayılmayarak koruma kapsamı dışında bırakıldığını belirtiniz.</a:t>
            </a:r>
          </a:p>
          <a:p>
            <a:pPr>
              <a:spcBef>
                <a:spcPts val="500"/>
              </a:spcBef>
              <a:spcAft>
                <a:spcPts val="300"/>
              </a:spcAft>
            </a:pPr>
            <a:r>
              <a:rPr sz="1800">
                <a:solidFill>
                  <a:srgbClr val="20202E"/>
                </a:solidFill>
              </a:rPr>
              <a:t>▪  Soru 3: Endüstriyel tasarımların tescil sonrası koruma süreleri nasıl düzenlenmiştir? Koruma süresinin başlangıç anını, ilk koruma süresini ve yenileme mekanizmasıyla ulaşılabilecek azami (maksimum) koruma süresini detaylarıyla açıklayınız.</a:t>
            </a:r>
          </a:p>
          <a:p>
            <a:pPr>
              <a:spcBef>
                <a:spcPts val="500"/>
              </a:spcBef>
              <a:spcAft>
                <a:spcPts val="300"/>
              </a:spcAft>
            </a:pPr>
            <a:r>
              <a:rPr sz="1800">
                <a:solidFill>
                  <a:srgbClr val="20202E"/>
                </a:solidFill>
              </a:rPr>
              <a:t>▪  Soru 4: Türk Patent ve Marka Kurumu'na (Türk Patent Enstitüsü) resmi bir buluş/patent başvurusu yaparken başvuru dosyasında bulunması gereken temel evraklar ve teknik belgeler nelerdir? Maddeler halinde listeleyiniz.</a:t>
            </a:r>
          </a:p>
          <a:p>
            <a:pPr>
              <a:spcBef>
                <a:spcPts val="500"/>
              </a:spcBef>
              <a:spcAft>
                <a:spcPts val="300"/>
              </a:spcAft>
            </a:pPr>
            <a:r>
              <a:rPr sz="1800">
                <a:solidFill>
                  <a:srgbClr val="20202E"/>
                </a:solidFill>
              </a:rPr>
              <a:t>▪  Soru 5: Tasarım tescil işlemlerinde prosedürel kolaylık sağlayan "Çoklu Başvuru" kavramını tanımlayarak, tasarım alanında ürünün görselliğini oluşturan ve tescile konu olan estetik/görsel faktörleri yazınız.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 Olası Sınav Sorusu Tahminleri (Vize / Final)</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01/06</a:t>
            </a:r>
          </a:p>
        </p:txBody>
      </p:sp>
      <p:sp>
        <p:nvSpPr>
          <p:cNvPr id="7" name="TextBox 6"/>
          <p:cNvSpPr txBox="1"/>
          <p:nvPr/>
        </p:nvSpPr>
        <p:spPr>
          <a:xfrm>
            <a:off x="274320" y="1325880"/>
            <a:ext cx="11704320" cy="5303520"/>
          </a:xfrm>
          <a:prstGeom prst="rect">
            <a:avLst/>
          </a:prstGeom>
          <a:noFill/>
        </p:spPr>
        <p:txBody>
          <a:bodyPr wrap="square">
            <a:spAutoFit/>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Soru 1: Buluş ve Tasarım kavramları arasındaki temel farkları göz önüne alarak; "Tasarım Hakkı Sahibi" ile "Tasarımcı" arasındaki niteliksel farkları açıklayınız ve tasarım hakkı sahibinin üçüncü kişilere karşı elde ettiği yasal hakları (yasaklama yetkilerini) maddeler halinde belirtiniz.</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02/06</a:t>
            </a:r>
          </a:p>
        </p:txBody>
      </p:sp>
      <p:sp>
        <p:nvSpPr>
          <p:cNvPr id="7" name="TextBox 6"/>
          <p:cNvSpPr txBox="1"/>
          <p:nvPr/>
        </p:nvSpPr>
        <p:spPr>
          <a:xfrm>
            <a:off x="274320" y="1325880"/>
            <a:ext cx="11704320" cy="5303520"/>
          </a:xfrm>
          <a:prstGeom prst="rect">
            <a:avLst/>
          </a:prstGeom>
          <a:noFill/>
        </p:spPr>
        <p:txBody>
          <a:bodyPr wrap="square">
            <a:spAutoFit/>
          </a:bodyPr>
          <a:lstStyle/>
          <a:p>
            <a:pPr>
              <a:spcBef>
                <a:spcPts val="500"/>
              </a:spcBef>
              <a:spcAft>
                <a:spcPts val="300"/>
              </a:spcAft>
            </a:pPr>
            <a:r>
              <a:rPr sz="1700">
                <a:solidFill>
                  <a:srgbClr val="20202E"/>
                </a:solidFill>
              </a:rPr>
              <a:t>▪  *Cevap/Önemli Nokta:**</a:t>
            </a:r>
          </a:p>
          <a:p>
            <a:pPr>
              <a:spcBef>
                <a:spcPts val="500"/>
              </a:spcBef>
              <a:spcAft>
                <a:spcPts val="300"/>
              </a:spcAft>
            </a:pPr>
            <a:r>
              <a:rPr sz="1700">
                <a:solidFill>
                  <a:srgbClr val="20202E"/>
                </a:solidFill>
              </a:rPr>
              <a:t>▪  **Tasarımcı:** Tasarımı bizzat gerçekleştiren, fikri/estetik emeği ortaya koyan gerçek kişidir.</a:t>
            </a:r>
          </a:p>
          <a:p>
            <a:pPr>
              <a:spcBef>
                <a:spcPts val="500"/>
              </a:spcBef>
              <a:spcAft>
                <a:spcPts val="300"/>
              </a:spcAft>
            </a:pPr>
            <a:r>
              <a:rPr sz="1700">
                <a:solidFill>
                  <a:srgbClr val="20202E"/>
                </a:solidFill>
              </a:rPr>
              <a:t>▪  **Tasarım Hakkı Sahibi:** Tescile konu tasarımı veya tasarımın uygulandığı ürünü üreten, piyasaya sunan, satan, sözleşme yapmak için icapta bulunan ve ticari amaçla kullanan kişidir (hak sahibi ile tasarımcı her zaman aynı kişi olmak zorunda değildir).</a:t>
            </a:r>
          </a:p>
          <a:p>
            <a:pPr>
              <a:spcBef>
                <a:spcPts val="500"/>
              </a:spcBef>
              <a:spcAft>
                <a:spcPts val="300"/>
              </a:spcAft>
            </a:pPr>
            <a:r>
              <a:rPr sz="1700">
                <a:solidFill>
                  <a:srgbClr val="20202E"/>
                </a:solidFill>
              </a:rPr>
              <a:t>▪  **Hak Sahibinin Yasaklama Yetkileri:** Üçüncü kişiler, tasarım hakkı sahibinin izni olmaksızın şu eylemleri gerçekleştiremez:</a:t>
            </a:r>
          </a:p>
          <a:p>
            <a:pPr>
              <a:spcBef>
                <a:spcPts val="500"/>
              </a:spcBef>
              <a:spcAft>
                <a:spcPts val="300"/>
              </a:spcAft>
            </a:pPr>
            <a:r>
              <a:rPr sz="1700">
                <a:solidFill>
                  <a:srgbClr val="20202E"/>
                </a:solidFill>
              </a:rPr>
              <a:t>▪  1. Tasarımı üretemez.</a:t>
            </a:r>
          </a:p>
          <a:p>
            <a:pPr>
              <a:spcBef>
                <a:spcPts val="500"/>
              </a:spcBef>
              <a:spcAft>
                <a:spcPts val="300"/>
              </a:spcAft>
            </a:pPr>
            <a:r>
              <a:rPr sz="1700">
                <a:solidFill>
                  <a:srgbClr val="20202E"/>
                </a:solidFill>
              </a:rPr>
              <a:t>▪  2. Piyasaya sunamaz, satamaz, ithal edemez.</a:t>
            </a:r>
          </a:p>
          <a:p>
            <a:pPr>
              <a:spcBef>
                <a:spcPts val="500"/>
              </a:spcBef>
              <a:spcAft>
                <a:spcPts val="300"/>
              </a:spcAft>
            </a:pPr>
            <a:r>
              <a:rPr sz="1700">
                <a:solidFill>
                  <a:srgbClr val="20202E"/>
                </a:solidFill>
              </a:rPr>
              <a:t>▪  3. Sözleşme yapmak için icapta bulunamaz.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Soru 2: Sınai mülkiyet hukuku kapsamında "Buluş" kavramını tanımlayarak bir fikrin buluş olarak nitelendirilebilmesi için taşıması gereken temel özelliği açıklayınız. Ayrıca hangi tıp/sağlık usullerinin buluş niteliğinde sayılmayarak koruma kapsamı dışında bırakıldığını belirtiniz.</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03/06</a:t>
            </a:r>
          </a:p>
        </p:txBody>
      </p:sp>
      <p:sp>
        <p:nvSpPr>
          <p:cNvPr id="7" name="TextBox 6"/>
          <p:cNvSpPr txBox="1"/>
          <p:nvPr/>
        </p:nvSpPr>
        <p:spPr>
          <a:xfrm>
            <a:off x="274320" y="1325880"/>
            <a:ext cx="11704320" cy="5303520"/>
          </a:xfrm>
          <a:prstGeom prst="rect">
            <a:avLst/>
          </a:prstGeom>
          <a:noFill/>
        </p:spPr>
        <p:txBody>
          <a:bodyPr wrap="square">
            <a:spAutoFit/>
          </a:bodyPr>
          <a:lstStyle/>
          <a:p>
            <a:pPr>
              <a:spcBef>
                <a:spcPts val="500"/>
              </a:spcBef>
              <a:spcAft>
                <a:spcPts val="300"/>
              </a:spcAft>
            </a:pPr>
            <a:r>
              <a:rPr sz="1700">
                <a:solidFill>
                  <a:srgbClr val="20202E"/>
                </a:solidFill>
              </a:rPr>
              <a:t>▪  *Cevap/Önemli Nokta:**</a:t>
            </a:r>
          </a:p>
          <a:p>
            <a:pPr>
              <a:spcBef>
                <a:spcPts val="500"/>
              </a:spcBef>
              <a:spcAft>
                <a:spcPts val="300"/>
              </a:spcAft>
            </a:pPr>
            <a:r>
              <a:rPr sz="1700">
                <a:solidFill>
                  <a:srgbClr val="20202E"/>
                </a:solidFill>
              </a:rPr>
              <a:t>▪  **Buluş Tanımı:** Teknoloji alanında belirli bir sorunun çözümüne ilişkin, teknik özelliği olan fikir ürünüdür. Yepyeni bir cihaz/yöntem yaratılması olabileceği gibi bilinen bir üründeki teknik bir iyileştirme de olabilir.</a:t>
            </a:r>
          </a:p>
          <a:p>
            <a:pPr>
              <a:spcBef>
                <a:spcPts val="500"/>
              </a:spcBef>
              <a:spcAft>
                <a:spcPts val="300"/>
              </a:spcAft>
            </a:pPr>
            <a:r>
              <a:rPr sz="1700">
                <a:solidFill>
                  <a:srgbClr val="20202E"/>
                </a:solidFill>
              </a:rPr>
              <a:t>▪  **Temel Özellik:** Buluşun mutlaka **teknik niteliğe** sahip olması gerekir. Aynı teknik problemin her farklı çözümü ayrı bir buluş sayılır.</a:t>
            </a:r>
          </a:p>
          <a:p>
            <a:pPr>
              <a:spcBef>
                <a:spcPts val="500"/>
              </a:spcBef>
              <a:spcAft>
                <a:spcPts val="300"/>
              </a:spcAft>
            </a:pPr>
            <a:r>
              <a:rPr sz="1700">
                <a:solidFill>
                  <a:srgbClr val="20202E"/>
                </a:solidFill>
              </a:rPr>
              <a:t>▪  **Koruma Kapsamı Dışında Kalan Usuller:** İnsan veya hayvan vücuduna uygulanacak cerrahi ve tedavi usulleri ile insan/hayvan vücudu ile ilgili teşhis usulleri buluş niteliğinde sayılmadığı için koruma kapsamı dışındadır.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Soru 3: Endüstriyel tasarımların tescil sonrası koruma süreleri nasıl düzenlenmiştir? Koruma süresinin başlangıç anını, ilk koruma süresini ve yenileme mekanizmasıyla ulaşılabilecek azami (maksimum) koruma süresini detaylarıyla açıklayınız.</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04/06</a:t>
            </a:r>
          </a:p>
        </p:txBody>
      </p:sp>
      <p:sp>
        <p:nvSpPr>
          <p:cNvPr id="7" name="TextBox 6"/>
          <p:cNvSpPr txBox="1"/>
          <p:nvPr/>
        </p:nvSpPr>
        <p:spPr>
          <a:xfrm>
            <a:off x="274320" y="1325880"/>
            <a:ext cx="11704320" cy="5303520"/>
          </a:xfrm>
          <a:prstGeom prst="rect">
            <a:avLst/>
          </a:prstGeom>
          <a:noFill/>
        </p:spPr>
        <p:txBody>
          <a:bodyPr wrap="square">
            <a:spAutoFit/>
          </a:bodyPr>
          <a:lstStyle/>
          <a:p>
            <a:pPr>
              <a:spcBef>
                <a:spcPts val="500"/>
              </a:spcBef>
              <a:spcAft>
                <a:spcPts val="300"/>
              </a:spcAft>
            </a:pPr>
            <a:r>
              <a:rPr sz="1700">
                <a:solidFill>
                  <a:srgbClr val="20202E"/>
                </a:solidFill>
              </a:rPr>
              <a:t>▪  *Cevap/Önemli Nokta:**</a:t>
            </a:r>
          </a:p>
          <a:p>
            <a:pPr>
              <a:spcBef>
                <a:spcPts val="500"/>
              </a:spcBef>
              <a:spcAft>
                <a:spcPts val="300"/>
              </a:spcAft>
            </a:pPr>
            <a:r>
              <a:rPr sz="1700">
                <a:solidFill>
                  <a:srgbClr val="20202E"/>
                </a:solidFill>
              </a:rPr>
              <a:t>▪  **Başlangıç Anı ve İlk Süre:** Tescilli tasarımların koruma süresi **başvuru tarihinden itibaren 5 yıldır**.</a:t>
            </a:r>
          </a:p>
          <a:p>
            <a:pPr>
              <a:spcBef>
                <a:spcPts val="500"/>
              </a:spcBef>
              <a:spcAft>
                <a:spcPts val="300"/>
              </a:spcAft>
            </a:pPr>
            <a:r>
              <a:rPr sz="1700">
                <a:solidFill>
                  <a:srgbClr val="20202E"/>
                </a:solidFill>
              </a:rPr>
              <a:t>▪  **Yenileme ve Azami Süre:** Koruma süresi, tescilin **beşer yıllık dönemler halinde yenilenmesi** işlemi ile uzatılabilir.</a:t>
            </a:r>
          </a:p>
          <a:p>
            <a:pPr>
              <a:spcBef>
                <a:spcPts val="500"/>
              </a:spcBef>
              <a:spcAft>
                <a:spcPts val="300"/>
              </a:spcAft>
            </a:pPr>
            <a:r>
              <a:rPr sz="1700">
                <a:solidFill>
                  <a:srgbClr val="20202E"/>
                </a:solidFill>
              </a:rPr>
              <a:t>▪  **Maksimum Süre:** Toplam koruma süresi yenilemelerle birlikte **en fazla 25 yıla** kadar uzatılabilir. Bu sürenin sonunda tasarım kamuya mal olur.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Soru 4: Türk Patent ve Marka Kurumu'na (Türk Patent Enstitüsü) resmi bir buluş/patent başvurusu yaparken başvuru dosyasında bulunması gereken temel evraklar ve teknik belgeler nelerdir? Maddeler halinde listeleyiniz.</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05/06</a:t>
            </a:r>
          </a:p>
        </p:txBody>
      </p:sp>
      <p:sp>
        <p:nvSpPr>
          <p:cNvPr id="7" name="TextBox 6"/>
          <p:cNvSpPr txBox="1"/>
          <p:nvPr/>
        </p:nvSpPr>
        <p:spPr>
          <a:xfrm>
            <a:off x="274320" y="1325880"/>
            <a:ext cx="11704320" cy="5303520"/>
          </a:xfrm>
          <a:prstGeom prst="rect">
            <a:avLst/>
          </a:prstGeom>
          <a:noFill/>
        </p:spPr>
        <p:txBody>
          <a:bodyPr wrap="square">
            <a:spAutoFit/>
          </a:bodyPr>
          <a:lstStyle/>
          <a:p>
            <a:pPr>
              <a:spcBef>
                <a:spcPts val="500"/>
              </a:spcBef>
              <a:spcAft>
                <a:spcPts val="300"/>
              </a:spcAft>
            </a:pPr>
            <a:r>
              <a:rPr sz="1700">
                <a:solidFill>
                  <a:srgbClr val="20202E"/>
                </a:solidFill>
              </a:rPr>
              <a:t>▪  *Cevap/Önemli Nokta:**</a:t>
            </a:r>
          </a:p>
          <a:p>
            <a:pPr>
              <a:spcBef>
                <a:spcPts val="500"/>
              </a:spcBef>
              <a:spcAft>
                <a:spcPts val="300"/>
              </a:spcAft>
            </a:pPr>
            <a:r>
              <a:rPr sz="1700">
                <a:solidFill>
                  <a:srgbClr val="20202E"/>
                </a:solidFill>
              </a:rPr>
              <a:t>▪  Başvuru dosyasında bulunması gereken zorunlu belgeler şunlardır:</a:t>
            </a:r>
          </a:p>
          <a:p>
            <a:pPr>
              <a:spcBef>
                <a:spcPts val="500"/>
              </a:spcBef>
              <a:spcAft>
                <a:spcPts val="300"/>
              </a:spcAft>
            </a:pPr>
            <a:r>
              <a:rPr sz="1700">
                <a:solidFill>
                  <a:srgbClr val="20202E"/>
                </a:solidFill>
              </a:rPr>
              <a:t>▪  1. Başvuru formu (İnternet sitesinden elde edilen 1 nüsha)</a:t>
            </a:r>
          </a:p>
          <a:p>
            <a:pPr>
              <a:spcBef>
                <a:spcPts val="500"/>
              </a:spcBef>
              <a:spcAft>
                <a:spcPts val="300"/>
              </a:spcAft>
            </a:pPr>
            <a:r>
              <a:rPr sz="1700">
                <a:solidFill>
                  <a:srgbClr val="20202E"/>
                </a:solidFill>
              </a:rPr>
              <a:t>▪  2. Buluş konusunu açıklayan **tarifname** (2 nüsha)</a:t>
            </a:r>
          </a:p>
          <a:p>
            <a:pPr>
              <a:spcBef>
                <a:spcPts val="500"/>
              </a:spcBef>
              <a:spcAft>
                <a:spcPts val="300"/>
              </a:spcAft>
            </a:pPr>
            <a:r>
              <a:rPr sz="1700">
                <a:solidFill>
                  <a:srgbClr val="20202E"/>
                </a:solidFill>
              </a:rPr>
              <a:t>▪  3. Korunması istenilen buluşun yeni olduğu iddia edilen teknik özelliklerini kapsayan **istem veya istemler** (2 nüsha)</a:t>
            </a:r>
          </a:p>
          <a:p>
            <a:pPr>
              <a:spcBef>
                <a:spcPts val="500"/>
              </a:spcBef>
              <a:spcAft>
                <a:spcPts val="300"/>
              </a:spcAft>
            </a:pPr>
            <a:r>
              <a:rPr sz="1700">
                <a:solidFill>
                  <a:srgbClr val="20202E"/>
                </a:solidFill>
              </a:rPr>
              <a:t>▪  4. Tarifnamede veya istemlerde atıf yapılan **teknik resimler** (2 nüsha)</a:t>
            </a:r>
          </a:p>
          <a:p>
            <a:pPr>
              <a:spcBef>
                <a:spcPts val="500"/>
              </a:spcBef>
              <a:spcAft>
                <a:spcPts val="300"/>
              </a:spcAft>
            </a:pPr>
            <a:r>
              <a:rPr sz="1700">
                <a:solidFill>
                  <a:srgbClr val="20202E"/>
                </a:solidFill>
              </a:rPr>
              <a:t>▪  5. **Özet** (2 nüsha)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88952" cy="1143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88952" cy="68580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09728" cy="571500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73152"/>
            <a:ext cx="10515600" cy="960120"/>
          </a:xfrm>
          <a:prstGeom prst="rect">
            <a:avLst/>
          </a:prstGeom>
          <a:noFill/>
        </p:spPr>
        <p:txBody>
          <a:bodyPr wrap="square">
            <a:spAutoFit/>
          </a:bodyPr>
          <a:lstStyle/>
          <a:p>
            <a:pPr algn="l"/>
            <a:r>
              <a:rPr sz="2600" b="1">
                <a:solidFill>
                  <a:srgbClr val="FFFFFF"/>
                </a:solidFill>
              </a:rPr>
              <a:t>Soru 5: Tasarım tescil işlemlerinde prosedürel kolaylık sağlayan "Çoklu Başvuru" kavramını tanımlayarak, tasarım alanında ürünün görselliğini oluşturan ve tescile konu olan estetik/görsel faktörleri yazınız.</a:t>
            </a:r>
          </a:p>
        </p:txBody>
      </p:sp>
      <p:sp>
        <p:nvSpPr>
          <p:cNvPr id="6" name="TextBox 5"/>
          <p:cNvSpPr txBox="1"/>
          <p:nvPr/>
        </p:nvSpPr>
        <p:spPr>
          <a:xfrm>
            <a:off x="10789920" y="73152"/>
            <a:ext cx="1188720" cy="960120"/>
          </a:xfrm>
          <a:prstGeom prst="rect">
            <a:avLst/>
          </a:prstGeom>
          <a:noFill/>
        </p:spPr>
        <p:txBody>
          <a:bodyPr wrap="square">
            <a:spAutoFit/>
          </a:bodyPr>
          <a:lstStyle/>
          <a:p>
            <a:pPr algn="r"/>
            <a:r>
              <a:rPr sz="1400" b="0">
                <a:solidFill>
                  <a:srgbClr val="B0C4DE"/>
                </a:solidFill>
              </a:rPr>
              <a:t>06/06</a:t>
            </a:r>
          </a:p>
        </p:txBody>
      </p:sp>
      <p:sp>
        <p:nvSpPr>
          <p:cNvPr id="7" name="TextBox 6"/>
          <p:cNvSpPr txBox="1"/>
          <p:nvPr/>
        </p:nvSpPr>
        <p:spPr>
          <a:xfrm>
            <a:off x="274320" y="1325880"/>
            <a:ext cx="11704320" cy="5303520"/>
          </a:xfrm>
          <a:prstGeom prst="rect">
            <a:avLst/>
          </a:prstGeom>
          <a:noFill/>
        </p:spPr>
        <p:txBody>
          <a:bodyPr wrap="square">
            <a:spAutoFit/>
          </a:bodyPr>
          <a:lstStyle/>
          <a:p>
            <a:pPr>
              <a:spcBef>
                <a:spcPts val="500"/>
              </a:spcBef>
              <a:spcAft>
                <a:spcPts val="300"/>
              </a:spcAft>
            </a:pPr>
            <a:r>
              <a:rPr sz="1700">
                <a:solidFill>
                  <a:srgbClr val="20202E"/>
                </a:solidFill>
              </a:rPr>
              <a:t>▪  *Cevap/Önemli Nokta:**</a:t>
            </a:r>
          </a:p>
          <a:p>
            <a:pPr>
              <a:spcBef>
                <a:spcPts val="500"/>
              </a:spcBef>
              <a:spcAft>
                <a:spcPts val="300"/>
              </a:spcAft>
            </a:pPr>
            <a:r>
              <a:rPr sz="1700">
                <a:solidFill>
                  <a:srgbClr val="20202E"/>
                </a:solidFill>
              </a:rPr>
              <a:t>▪  **Çoklu Başvuru:** Tek bir başvuru dilekçesi ve süreci ile birden çok tasarım için aynı anda koruma talep edilmesidir (maliyet ve zaman tasarrufu sağlar).</a:t>
            </a:r>
          </a:p>
          <a:p>
            <a:pPr>
              <a:spcBef>
                <a:spcPts val="500"/>
              </a:spcBef>
              <a:spcAft>
                <a:spcPts val="300"/>
              </a:spcAft>
            </a:pPr>
            <a:r>
              <a:rPr sz="1700">
                <a:solidFill>
                  <a:srgbClr val="20202E"/>
                </a:solidFill>
              </a:rPr>
              <a:t>▪  **Tasarımı Oluşturan Estetik/Görsel Faktörler:** Bir eşyanın süs veya estetik görüntüsünü oluşturan, 2 veya 3 boyutlu olabilen ürünün **formu, rengi ve hacmi** gibi faktörlerdir.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0" y="3154680"/>
            <a:ext cx="7589520" cy="64008"/>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920240"/>
            <a:ext cx="9144000" cy="1463040"/>
          </a:xfrm>
          <a:prstGeom prst="rect">
            <a:avLst/>
          </a:prstGeom>
          <a:noFill/>
        </p:spPr>
        <p:txBody>
          <a:bodyPr wrap="square">
            <a:spAutoFit/>
          </a:bodyPr>
          <a:lstStyle/>
          <a:p>
            <a:pPr algn="ctr"/>
            <a:r>
              <a:rPr sz="5200" b="1">
                <a:solidFill>
                  <a:srgbClr val="FFFFFF"/>
                </a:solidFill>
              </a:rPr>
              <a:t>Teşekkürler</a:t>
            </a:r>
          </a:p>
        </p:txBody>
      </p:sp>
      <p:sp>
        <p:nvSpPr>
          <p:cNvPr id="5" name="TextBox 4"/>
          <p:cNvSpPr txBox="1"/>
          <p:nvPr/>
        </p:nvSpPr>
        <p:spPr>
          <a:xfrm>
            <a:off x="1371600" y="3383280"/>
            <a:ext cx="9144000" cy="731520"/>
          </a:xfrm>
          <a:prstGeom prst="rect">
            <a:avLst/>
          </a:prstGeom>
          <a:noFill/>
        </p:spPr>
        <p:txBody>
          <a:bodyPr wrap="square">
            <a:spAutoFit/>
          </a:bodyPr>
          <a:lstStyle/>
          <a:p>
            <a:pPr algn="ctr"/>
            <a:r>
              <a:rPr sz="1500" b="0">
                <a:solidFill>
                  <a:srgbClr val="B0C4DE"/>
                </a:solidFill>
              </a:rPr>
              <a:t>Bu sunum Ders Notu Özetleyici tarafından otomatik olarak oluşturulmuştur.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